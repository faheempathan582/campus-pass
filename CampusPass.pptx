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6C63FF"/>
                </a:solidFill>
                <a:latin typeface="Calibri"/>
              </a:defRPr>
            </a:pPr>
            <a:r>
              <a:t>CAMPUSPASS</a:t>
            </a:r>
          </a:p>
          <a:p>
            <a:pPr>
              <a:spcAft>
                <a:spcPts val="2000"/>
              </a:spcAft>
              <a:defRPr sz="2800" b="1">
                <a:solidFill>
                  <a:srgbClr val="F0F4FF"/>
                </a:solidFill>
                <a:latin typeface="Calibri"/>
              </a:defRPr>
            </a:pPr>
            <a:r>
              <a:t>Next-Gen Digital Permission &amp; Security Platform</a:t>
            </a:r>
          </a:p>
          <a:p>
            <a:pPr>
              <a:spcAft>
                <a:spcPts val="40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Technical Architecture, Security Hardening &amp; Implementation Overview</a:t>
            </a:r>
          </a:p>
          <a:p>
            <a:pPr>
              <a:defRPr sz="1300">
                <a:solidFill>
                  <a:srgbClr val="10B981"/>
                </a:solidFill>
                <a:latin typeface="Calibri"/>
              </a:defRPr>
            </a:pPr>
            <a:r>
              <a:t>Target Institution: SRIT (@srit.ac.in)   |   Live Demo: campus-pass-cspy.vercel.app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B4FC"/>
                </a:solidFill>
                <a:latin typeface="Calibri"/>
              </a:defRPr>
            </a:pPr>
            <a:r>
              <a:t>CAMPUS PASS TECHNICAL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F"/>
                </a:solidFill>
                <a:latin typeface="Calibri"/>
              </a:defRPr>
            </a:pPr>
            <a:r>
              <a:t>Executive Summary &amp; Core System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120640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79" cy="438912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0F4FF"/>
                </a:solidFill>
                <a:latin typeface="Calibri"/>
              </a:defRPr>
            </a:pPr>
            <a:r>
              <a:t>🎯 Problem &amp; Solution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Legacy Issue: </a:t>
            </a:r>
            <a:r>
              <a:rPr b="0">
                <a:solidFill>
                  <a:srgbClr val="94A3B8"/>
                </a:solidFill>
              </a:rPr>
              <a:t>Manual paper leave slips caused delays, loss of records, and unauthorized access from non-college emails.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Modern Solution: </a:t>
            </a:r>
            <a:r>
              <a:rPr b="0">
                <a:solidFill>
                  <a:srgbClr val="94A3B8"/>
                </a:solidFill>
              </a:rPr>
              <a:t>CampusPass digitizes student leave, on-duty, and hostel exit applications with real-time tracking.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Domain Lockout: </a:t>
            </a:r>
            <a:r>
              <a:rPr b="0">
                <a:solidFill>
                  <a:srgbClr val="94A3B8"/>
                </a:solidFill>
              </a:rPr>
              <a:t>Strictly restricts registration and authentication to verified @srit.ac.in emails.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Multi-Tier Approvals: </a:t>
            </a:r>
            <a:r>
              <a:rPr b="0">
                <a:solidFill>
                  <a:srgbClr val="94A3B8"/>
                </a:solidFill>
              </a:rPr>
              <a:t>Automated routing through Class Advisor -&gt; HOD -&gt; Hostel Warden workflows.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1206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754879" cy="438912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0F4FF"/>
                </a:solidFill>
                <a:latin typeface="Calibri"/>
              </a:defRPr>
            </a:pPr>
            <a:r>
              <a:t>🛡️ Key Security Deliverables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Domain Validation: </a:t>
            </a:r>
            <a:r>
              <a:rPr b="0">
                <a:solidFill>
                  <a:srgbClr val="94A3B8"/>
                </a:solidFill>
              </a:rPr>
              <a:t>Live regex checking on Frontend + strict validation on Backend endpoints.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Protected Routes: </a:t>
            </a:r>
            <a:r>
              <a:rPr b="0">
                <a:solidFill>
                  <a:srgbClr val="94A3B8"/>
                </a:solidFill>
              </a:rPr>
              <a:t>JWT-based client-side route guards blocking unauthorized URL navigation.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Logout Management: </a:t>
            </a:r>
            <a:r>
              <a:rPr b="0">
                <a:solidFill>
                  <a:srgbClr val="94A3B8"/>
                </a:solidFill>
              </a:rPr>
              <a:t>Dynamic auth state dispatch with immediate token revocation.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CORS Hardening: </a:t>
            </a:r>
            <a:r>
              <a:rPr b="0">
                <a:solidFill>
                  <a:srgbClr val="94A3B8"/>
                </a:solidFill>
              </a:rPr>
              <a:t>Restricted API access strictly to the Vercel frontend production domain.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B4FC"/>
                </a:solidFill>
                <a:latin typeface="Calibri"/>
              </a:defRPr>
            </a:pPr>
            <a:r>
              <a:t>CAMPUS PASS TECHNICAL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F"/>
                </a:solidFill>
                <a:latin typeface="Calibri"/>
              </a:defRPr>
            </a:pPr>
            <a:r>
              <a:t>Full System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291840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2926080" cy="438912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0F4FF"/>
                </a:solidFill>
                <a:latin typeface="Calibri"/>
              </a:defRPr>
            </a:pPr>
            <a:r>
              <a:t>⚡ Frontend Layer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Framework: </a:t>
            </a:r>
            <a:r>
              <a:rPr b="0">
                <a:solidFill>
                  <a:srgbClr val="94A3B8"/>
                </a:solidFill>
              </a:rPr>
              <a:t>React 19 + Vite 8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Routing: </a:t>
            </a:r>
            <a:r>
              <a:rPr b="0">
                <a:solidFill>
                  <a:srgbClr val="94A3B8"/>
                </a:solidFill>
              </a:rPr>
              <a:t>React Router DOM v7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Icons: </a:t>
            </a:r>
            <a:r>
              <a:rPr b="0">
                <a:solidFill>
                  <a:srgbClr val="94A3B8"/>
                </a:solidFill>
              </a:rPr>
              <a:t>Lucide React Vector Library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Styling: </a:t>
            </a:r>
            <a:r>
              <a:rPr b="0">
                <a:solidFill>
                  <a:srgbClr val="94A3B8"/>
                </a:solidFill>
              </a:rPr>
              <a:t>Custom Glassmorphic CSS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Typography: </a:t>
            </a:r>
            <a:r>
              <a:rPr b="0">
                <a:solidFill>
                  <a:srgbClr val="94A3B8"/>
                </a:solidFill>
              </a:rPr>
              <a:t>Google Font Outfit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463040"/>
            <a:ext cx="32918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45920"/>
            <a:ext cx="2926080" cy="438912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0F4FF"/>
                </a:solidFill>
                <a:latin typeface="Calibri"/>
              </a:defRPr>
            </a:pPr>
            <a:r>
              <a:t>⚙️ Backend &amp; API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Runtime: </a:t>
            </a:r>
            <a:r>
              <a:rPr b="0">
                <a:solidFill>
                  <a:srgbClr val="94A3B8"/>
                </a:solidFill>
              </a:rPr>
              <a:t>Node.js (v20+)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Framework: </a:t>
            </a:r>
            <a:r>
              <a:rPr b="0">
                <a:solidFill>
                  <a:srgbClr val="94A3B8"/>
                </a:solidFill>
              </a:rPr>
              <a:t>Express.js REST Server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Auth Engine: </a:t>
            </a:r>
            <a:r>
              <a:rPr b="0">
                <a:solidFill>
                  <a:srgbClr val="94A3B8"/>
                </a:solidFill>
              </a:rPr>
              <a:t>JWT (JSON Web Tokens)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Hashing: </a:t>
            </a:r>
            <a:r>
              <a:rPr b="0">
                <a:solidFill>
                  <a:srgbClr val="94A3B8"/>
                </a:solidFill>
              </a:rPr>
              <a:t>Bcrypt.js (10 salt rounds)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Security: </a:t>
            </a:r>
            <a:r>
              <a:rPr b="0">
                <a:solidFill>
                  <a:srgbClr val="94A3B8"/>
                </a:solidFill>
              </a:rPr>
              <a:t>CORS + Custom Middleware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383280" cy="73152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45920"/>
            <a:ext cx="3017520" cy="438912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0F4FF"/>
                </a:solidFill>
                <a:latin typeface="Calibri"/>
              </a:defRPr>
            </a:pPr>
            <a:r>
              <a:t>🗄️ Database &amp; Cloud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Primary DB: </a:t>
            </a:r>
            <a:r>
              <a:rPr b="0">
                <a:solidFill>
                  <a:srgbClr val="94A3B8"/>
                </a:solidFill>
              </a:rPr>
              <a:t>MongoDB Cloud / Atlas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ODM: </a:t>
            </a:r>
            <a:r>
              <a:rPr b="0">
                <a:solidFill>
                  <a:srgbClr val="94A3B8"/>
                </a:solidFill>
              </a:rPr>
              <a:t>Mongoose Document Mapping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Dev Fallback: </a:t>
            </a:r>
            <a:r>
              <a:rPr b="0">
                <a:solidFill>
                  <a:srgbClr val="94A3B8"/>
                </a:solidFill>
              </a:rPr>
              <a:t>MongoMemoryServer In-Memory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Hosting Platform: </a:t>
            </a:r>
            <a:r>
              <a:rPr b="0">
                <a:solidFill>
                  <a:srgbClr val="94A3B8"/>
                </a:solidFill>
              </a:rPr>
              <a:t>Vercel Cloud Network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Repository: </a:t>
            </a:r>
            <a:r>
              <a:rPr b="0">
                <a:solidFill>
                  <a:srgbClr val="94A3B8"/>
                </a:solidFill>
              </a:rPr>
              <a:t>GitHub Continuous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B4FC"/>
                </a:solidFill>
                <a:latin typeface="Calibri"/>
              </a:defRPr>
            </a:pPr>
            <a:r>
              <a:t>CAMPUS PASS TECHNICAL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F"/>
                </a:solidFill>
                <a:latin typeface="Calibri"/>
              </a:defRPr>
            </a:pPr>
            <a:r>
              <a:t>Security Architecture &amp; Domain Restrictions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1206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79" cy="438912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0F4FF"/>
                </a:solidFill>
                <a:latin typeface="Calibri"/>
              </a:defRPr>
            </a:pPr>
            <a:r>
              <a:t>🔒 Strict Domain Validation (@srit.ac.in)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Frontend Guard: </a:t>
            </a:r>
            <a:r>
              <a:rPr b="0">
                <a:solidFill>
                  <a:srgbClr val="94A3B8"/>
                </a:solidFill>
              </a:rPr>
              <a:t>Real-time input validation in Login.jsx &amp; Register.jsx disables button &amp; shows red alert if email does not end with @srit.ac.in.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Backend Defense: </a:t>
            </a:r>
            <a:r>
              <a:rPr b="0">
                <a:solidFill>
                  <a:srgbClr val="94A3B8"/>
                </a:solidFill>
              </a:rPr>
              <a:t>Server-side check in validateEmail.js rejects unauthorized payloads with HTTP 400 even if API is called directly.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Security Impact: </a:t>
            </a:r>
            <a:r>
              <a:rPr b="0">
                <a:solidFill>
                  <a:srgbClr val="94A3B8"/>
                </a:solidFill>
              </a:rPr>
              <a:t>Prevents external spam, unauthorized registrations, and potential impersonation attacks.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120640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754879" cy="438912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0F4FF"/>
                </a:solidFill>
                <a:latin typeface="Calibri"/>
              </a:defRPr>
            </a:pPr>
            <a:r>
              <a:t>🛡️ Route Protection &amp; Session Security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ProtectedRoute Component: </a:t>
            </a:r>
            <a:r>
              <a:rPr b="0">
                <a:solidFill>
                  <a:srgbClr val="94A3B8"/>
                </a:solidFill>
              </a:rPr>
              <a:t>Interceptors check stored JWT and verify user roles (Student vs Advisor/HOD/Warden) before rendering dashboard components.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GuestRoute Component: </a:t>
            </a:r>
            <a:r>
              <a:rPr b="0">
                <a:solidFill>
                  <a:srgbClr val="94A3B8"/>
                </a:solidFill>
              </a:rPr>
              <a:t>Prevents authenticated users from seeing Login/Register forms, auto-redirecting to active dashboards.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Header Authentication: </a:t>
            </a:r>
            <a:r>
              <a:rPr b="0">
                <a:solidFill>
                  <a:srgbClr val="94A3B8"/>
                </a:solidFill>
              </a:rPr>
              <a:t>All protected API calls inject 'Authorization: Bearer &lt;TOKEN&gt;' header. Middleware returns HTTP 401 on invalid/expired sessions.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B4FC"/>
                </a:solidFill>
                <a:latin typeface="Calibri"/>
              </a:defRPr>
            </a:pPr>
            <a:r>
              <a:t>CAMPUS PASS TECHNICAL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F"/>
                </a:solidFill>
                <a:latin typeface="Calibri"/>
              </a:defRPr>
            </a:pPr>
            <a:r>
              <a:t>Database Schemas &amp; Data Storage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291840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2926080" cy="438912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0F4FF"/>
                </a:solidFill>
                <a:latin typeface="Calibri"/>
              </a:defRPr>
            </a:pPr>
            <a:r>
              <a:t>👤 User Collection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name: </a:t>
            </a:r>
            <a:r>
              <a:rPr b="0">
                <a:solidFill>
                  <a:srgbClr val="94A3B8"/>
                </a:solidFill>
              </a:rPr>
              <a:t>String (Required)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email: </a:t>
            </a:r>
            <a:r>
              <a:rPr b="0">
                <a:solidFill>
                  <a:srgbClr val="94A3B8"/>
                </a:solidFill>
              </a:rPr>
              <a:t>Unique String (@srit.ac.in)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password: </a:t>
            </a:r>
            <a:r>
              <a:rPr b="0">
                <a:solidFill>
                  <a:srgbClr val="94A3B8"/>
                </a:solidFill>
              </a:rPr>
              <a:t>Bcrypt Hash String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role: </a:t>
            </a:r>
            <a:r>
              <a:rPr b="0">
                <a:solidFill>
                  <a:srgbClr val="94A3B8"/>
                </a:solidFill>
              </a:rPr>
              <a:t>Student / Advisor / HOD / Warden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rollNumber: </a:t>
            </a:r>
            <a:r>
              <a:rPr b="0">
                <a:solidFill>
                  <a:srgbClr val="94A3B8"/>
                </a:solidFill>
              </a:rPr>
              <a:t>Student Roll ID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department: </a:t>
            </a:r>
            <a:r>
              <a:rPr b="0">
                <a:solidFill>
                  <a:srgbClr val="94A3B8"/>
                </a:solidFill>
              </a:rPr>
              <a:t>Engineering Dept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isHosteller: </a:t>
            </a:r>
            <a:r>
              <a:rPr b="0">
                <a:solidFill>
                  <a:srgbClr val="94A3B8"/>
                </a:solidFill>
              </a:rPr>
              <a:t>Boolean Flag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463040"/>
            <a:ext cx="32918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45920"/>
            <a:ext cx="2926080" cy="438912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0F4FF"/>
                </a:solidFill>
                <a:latin typeface="Calibri"/>
              </a:defRPr>
            </a:pPr>
            <a:r>
              <a:t>📄 Permission Collection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student: </a:t>
            </a:r>
            <a:r>
              <a:rPr b="0">
                <a:solidFill>
                  <a:srgbClr val="94A3B8"/>
                </a:solidFill>
              </a:rPr>
              <a:t>Ref to User ObjectID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type: </a:t>
            </a:r>
            <a:r>
              <a:rPr b="0">
                <a:solidFill>
                  <a:srgbClr val="94A3B8"/>
                </a:solidFill>
              </a:rPr>
              <a:t>Leave / On-Duty / Exit / Medical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reason: </a:t>
            </a:r>
            <a:r>
              <a:rPr b="0">
                <a:solidFill>
                  <a:srgbClr val="94A3B8"/>
                </a:solidFill>
              </a:rPr>
              <a:t>Text description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fromDate / toDate: </a:t>
            </a:r>
            <a:r>
              <a:rPr b="0">
                <a:solidFill>
                  <a:srgbClr val="94A3B8"/>
                </a:solidFill>
              </a:rPr>
              <a:t>Date Timestamps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status: </a:t>
            </a:r>
            <a:r>
              <a:rPr b="0">
                <a:solidFill>
                  <a:srgbClr val="94A3B8"/>
                </a:solidFill>
              </a:rPr>
              <a:t>Pending / Approved / Rejected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pendingWithRole: </a:t>
            </a:r>
            <a:r>
              <a:rPr b="0">
                <a:solidFill>
                  <a:srgbClr val="94A3B8"/>
                </a:solidFill>
              </a:rPr>
              <a:t>Current Approver Role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remarks: </a:t>
            </a:r>
            <a:r>
              <a:rPr b="0">
                <a:solidFill>
                  <a:srgbClr val="94A3B8"/>
                </a:solidFill>
              </a:rPr>
              <a:t>Array of Audit Trail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383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45920"/>
            <a:ext cx="3017520" cy="438912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0F4FF"/>
                </a:solidFill>
                <a:latin typeface="Calibri"/>
              </a:defRPr>
            </a:pPr>
            <a:r>
              <a:t>🔔 Notification Collection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recipientRole: </a:t>
            </a:r>
            <a:r>
              <a:rPr b="0">
                <a:solidFill>
                  <a:srgbClr val="94A3B8"/>
                </a:solidFill>
              </a:rPr>
              <a:t>Target Authority Role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message: </a:t>
            </a:r>
            <a:r>
              <a:rPr b="0">
                <a:solidFill>
                  <a:srgbClr val="94A3B8"/>
                </a:solidFill>
              </a:rPr>
              <a:t>System Alert Description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permission: </a:t>
            </a:r>
            <a:r>
              <a:rPr b="0">
                <a:solidFill>
                  <a:srgbClr val="94A3B8"/>
                </a:solidFill>
              </a:rPr>
              <a:t>Ref to Permission ObjectID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readBy: </a:t>
            </a:r>
            <a:r>
              <a:rPr b="0">
                <a:solidFill>
                  <a:srgbClr val="94A3B8"/>
                </a:solidFill>
              </a:rPr>
              <a:t>Array of User ObjectIDs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timestamps: </a:t>
            </a:r>
            <a:r>
              <a:rPr b="0">
                <a:solidFill>
                  <a:srgbClr val="94A3B8"/>
                </a:solidFill>
              </a:rPr>
              <a:t>CreatedAt &amp; UpdatedAt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B4FC"/>
                </a:solidFill>
                <a:latin typeface="Calibri"/>
              </a:defRPr>
            </a:pPr>
            <a:r>
              <a:t>CAMPUS PASS TECHNICAL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F"/>
                </a:solidFill>
                <a:latin typeface="Calibri"/>
              </a:defRPr>
            </a:pPr>
            <a:r>
              <a:t>Approval Workflow &amp; Real-Time Notification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698480" cy="73152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332719" cy="438912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0F4FF"/>
                </a:solidFill>
                <a:latin typeface="Calibri"/>
              </a:defRPr>
            </a:pPr>
            <a:r>
              <a:t>🔄 Multi-Level Approval Sequence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Step 1 - Application Submission: </a:t>
            </a:r>
            <a:r>
              <a:rPr b="0">
                <a:solidFill>
                  <a:srgbClr val="94A3B8"/>
                </a:solidFill>
              </a:rPr>
              <a:t>Student completes permission form. Backend generates permission document setting pendingWithRole to 'Advisor' (or 'Warden' for Hostel Exit).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Step 2 - Initial Authority Notification: </a:t>
            </a:r>
            <a:r>
              <a:rPr b="0">
                <a:solidFill>
                  <a:srgbClr val="94A3B8"/>
                </a:solidFill>
              </a:rPr>
              <a:t>System auto-generates a Notification document tagged for the recipient role. NotificationBell polls every 30 seconds to alert faculty.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Step 3 - First Level Review: </a:t>
            </a:r>
            <a:r>
              <a:rPr b="0">
                <a:solidFill>
                  <a:srgbClr val="94A3B8"/>
                </a:solidFill>
              </a:rPr>
              <a:t>Class Advisor reviews request in AuthorityDashboard, adds optional remark, and clicks Approve or Reject.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Step 4 - Escalation &amp; Final Approval: </a:t>
            </a:r>
            <a:r>
              <a:rPr b="0">
                <a:solidFill>
                  <a:srgbClr val="94A3B8"/>
                </a:solidFill>
              </a:rPr>
              <a:t>If approved by Advisor, status stays 'Pending' while pendingWithRole advances to 'HOD' &amp; triggers HOD notification. When HOD approves, status updates to 'Approved'.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Step 5 - Student History Sync: </a:t>
            </a:r>
            <a:r>
              <a:rPr b="0">
                <a:solidFill>
                  <a:srgbClr val="94A3B8"/>
                </a:solidFill>
              </a:rPr>
              <a:t>Student Dashboard updates live with real-time status badges (Pending, Approved, Rejected) and remarks.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B4FC"/>
                </a:solidFill>
                <a:latin typeface="Calibri"/>
              </a:defRPr>
            </a:pPr>
            <a:r>
              <a:t>CAMPUS PASS TECHNICAL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F"/>
                </a:solidFill>
                <a:latin typeface="Calibri"/>
              </a:defRPr>
            </a:pPr>
            <a:r>
              <a:t>Frontend Redesign &amp; User Experience (UX)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120640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79" cy="438912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0F4FF"/>
                </a:solidFill>
                <a:latin typeface="Calibri"/>
              </a:defRPr>
            </a:pPr>
            <a:r>
              <a:t>🎨 Modern Design System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Deep Navy Palette: </a:t>
            </a:r>
            <a:r>
              <a:rPr b="0">
                <a:solidFill>
                  <a:srgbClr val="94A3B8"/>
                </a:solidFill>
              </a:rPr>
              <a:t>Rich dark mode aesthetic (#060b18) featuring subtle radial mesh backgrounds.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Glassmorphism: </a:t>
            </a:r>
            <a:r>
              <a:rPr b="0">
                <a:solidFill>
                  <a:srgbClr val="94A3B8"/>
                </a:solidFill>
              </a:rPr>
              <a:t>Translucent cards with blur filters, subtle inset shadows, and reactive hover borders.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Typography &amp; Icons: </a:t>
            </a:r>
            <a:r>
              <a:rPr b="0">
                <a:solidFill>
                  <a:srgbClr val="94A3B8"/>
                </a:solidFill>
              </a:rPr>
              <a:t>Google Font 'Outfit' combined with clean vector icons from Lucide React.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1206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754879" cy="438912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0F4FF"/>
                </a:solidFill>
                <a:latin typeface="Calibri"/>
              </a:defRPr>
            </a:pPr>
            <a:r>
              <a:t>💡 Enhanced UI Components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Custom Toast System: </a:t>
            </a:r>
            <a:r>
              <a:rPr b="0">
                <a:solidFill>
                  <a:srgbClr val="94A3B8"/>
                </a:solidFill>
              </a:rPr>
              <a:t>Toast.jsx replaces native browser alert() popups with smooth non-blocking notifications.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Interactive Dashboards: </a:t>
            </a:r>
            <a:r>
              <a:rPr b="0">
                <a:solidFill>
                  <a:srgbClr val="94A3B8"/>
                </a:solidFill>
              </a:rPr>
              <a:t>Student stats cards (Total, Pending, Approved) + expandable Authority review cards.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Responsive Navigation: </a:t>
            </a:r>
            <a:r>
              <a:rPr b="0">
                <a:solidFill>
                  <a:srgbClr val="94A3B8"/>
                </a:solidFill>
              </a:rPr>
              <a:t>Sticky frosted navbar with live user avatar chip and red accent Logout button.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B4FC"/>
                </a:solidFill>
                <a:latin typeface="Calibri"/>
              </a:defRPr>
            </a:pPr>
            <a:r>
              <a:t>CAMPUS PASS TECHNICAL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F"/>
                </a:solidFill>
                <a:latin typeface="Calibri"/>
              </a:defRPr>
            </a:pPr>
            <a:r>
              <a:t>Production Build &amp; Live Deployment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1206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79" cy="438912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0F4FF"/>
                </a:solidFill>
                <a:latin typeface="Calibri"/>
              </a:defRPr>
            </a:pPr>
            <a:r>
              <a:t>🚀 Continuous Deployment Pipeline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Local Vite Build: </a:t>
            </a:r>
            <a:r>
              <a:rPr b="0">
                <a:solidFill>
                  <a:srgbClr val="94A3B8"/>
                </a:solidFill>
              </a:rPr>
              <a:t>Tested via 'npx vite build'. Successfully compiled 1,794 modules with zero errors in 1.62 seconds.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Git Version Control: </a:t>
            </a:r>
            <a:r>
              <a:rPr b="0">
                <a:solidFill>
                  <a:srgbClr val="94A3B8"/>
                </a:solidFill>
              </a:rPr>
              <a:t>Pushed 20 modified/created files directly to GitHub main branch.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Vercel Auto-Deploy: </a:t>
            </a:r>
            <a:r>
              <a:rPr b="0">
                <a:solidFill>
                  <a:srgbClr val="94A3B8"/>
                </a:solidFill>
              </a:rPr>
              <a:t>Triggered instant CDN build serving live application at campus-pass-cspy.vercel.app.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120640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754879" cy="438912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0F4FF"/>
                </a:solidFill>
                <a:latin typeface="Calibri"/>
              </a:defRPr>
            </a:pPr>
            <a:r>
              <a:t>✅ Project Summary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Email Restrict: </a:t>
            </a:r>
            <a:r>
              <a:rPr b="0">
                <a:solidFill>
                  <a:srgbClr val="94A3B8"/>
                </a:solidFill>
              </a:rPr>
              <a:t>Strictly enforced @srit.ac.in on Frontend + Backend.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Authentication: </a:t>
            </a:r>
            <a:r>
              <a:rPr b="0">
                <a:solidFill>
                  <a:srgbClr val="94A3B8"/>
                </a:solidFill>
              </a:rPr>
              <a:t>Navbar Logout + JWT Protected Route Guards.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Notifications: </a:t>
            </a:r>
            <a:r>
              <a:rPr b="0">
                <a:solidFill>
                  <a:srgbClr val="94A3B8"/>
                </a:solidFill>
              </a:rPr>
              <a:t>Automated alert engine for Advisor, HOD, and Warden.</a:t>
            </a:r>
          </a:p>
          <a:p>
            <a:pPr>
              <a:spcAft>
                <a:spcPts val="600"/>
              </a:spcAft>
              <a:defRPr b="1" sz="1200">
                <a:solidFill>
                  <a:srgbClr val="A5B4FC"/>
                </a:solidFill>
                <a:latin typeface="Calibri"/>
              </a:defRPr>
            </a:pPr>
            <a:r>
              <a:t>•  Live Status: </a:t>
            </a:r>
            <a:r>
              <a:rPr b="0">
                <a:solidFill>
                  <a:srgbClr val="94A3B8"/>
                </a:solidFill>
              </a:rPr>
              <a:t>Fully operational and available for institution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